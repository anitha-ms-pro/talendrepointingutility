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914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Talend AWS  GCP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A73E8"/>
                </a:solidFill>
                <a:latin typeface="Calibri"/>
              </a:rPr>
              <a:t>Repointing Utility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87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8ECF0"/>
                </a:solidFill>
                <a:latin typeface="Calibri"/>
              </a:rPr>
              <a:t>Automated ETL Job Migration from Amazon Redshift &amp; 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8ECF0"/>
                </a:solidFill>
                <a:latin typeface="Calibri"/>
              </a:rPr>
              <a:t>to Google BigQuery &amp; Cloud Storage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315968"/>
            <a:ext cx="5212080" cy="1508760"/>
          </a:xfrm>
          <a:prstGeom prst="rect">
            <a:avLst/>
          </a:prstGeom>
          <a:solidFill>
            <a:srgbClr val="13273E"/>
          </a:solidFill>
          <a:ln w="95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25696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73E8"/>
                </a:solidFill>
                <a:latin typeface="Calibri"/>
              </a:rPr>
              <a:t>API-Powered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74336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GCP Batch SQL Translation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0096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C7A"/>
                </a:solidFill>
                <a:latin typeface="Calibri"/>
              </a:rPr>
              <a:t>Official Google BigQuery Migration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4315968"/>
            <a:ext cx="5212080" cy="1508760"/>
          </a:xfrm>
          <a:prstGeom prst="rect">
            <a:avLst/>
          </a:prstGeom>
          <a:solidFill>
            <a:srgbClr val="13273E"/>
          </a:solidFill>
          <a:ln w="9525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4425696"/>
            <a:ext cx="49560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73E8"/>
                </a:solidFill>
                <a:latin typeface="Calibri"/>
              </a:rPr>
              <a:t>Zero Data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974336"/>
            <a:ext cx="4956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Backup &amp; Restore Built-in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340096"/>
            <a:ext cx="4956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C7A"/>
                </a:solidFill>
                <a:latin typeface="Calibri"/>
              </a:rPr>
              <a:t>Robocopy /MIR on every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C7A"/>
                </a:solidFill>
                <a:latin typeface="Calibri"/>
              </a:rPr>
              <a:t>Customer 360  |  Data Engineering Team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73E8"/>
                </a:solidFill>
                <a:latin typeface="Calibri"/>
              </a:rPr>
              <a:t>What we'll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394960" cy="896112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9047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3E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148132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1856232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C7A"/>
                </a:solidFill>
                <a:latin typeface="Calibri"/>
              </a:rPr>
              <a:t>Why migration from AWS to GCP is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394960" cy="896112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49047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148132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7" y="1856232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C7A"/>
                </a:solidFill>
                <a:latin typeface="Calibri"/>
              </a:rPr>
              <a:t>High-level architecture of the utility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41448"/>
            <a:ext cx="5394960" cy="896112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5146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3E8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7" y="2505456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Tool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7" y="288036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C7A"/>
                </a:solidFill>
                <a:latin typeface="Calibri"/>
              </a:rPr>
              <a:t>Files, modules, and their responsibilities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441448"/>
            <a:ext cx="5394960" cy="896112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5146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7" y="2505456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End-to-End Execution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7" y="288036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C7A"/>
                </a:solidFill>
                <a:latin typeface="Calibri"/>
              </a:rPr>
              <a:t>Step-by-step run walkthrough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465576"/>
            <a:ext cx="5394960" cy="896112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35387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3E8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3529584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SQL Translation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7" y="3904487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C7A"/>
                </a:solidFill>
                <a:latin typeface="Calibri"/>
              </a:rPr>
              <a:t>GCP Batch API + Local Regex fallback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465576"/>
            <a:ext cx="5394960" cy="896112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5387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7" y="3529584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Component Mappings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7" y="3904487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C7A"/>
                </a:solidFill>
                <a:latin typeface="Calibri"/>
              </a:rPr>
              <a:t>AWS components  GCP equivalents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489704"/>
            <a:ext cx="5394960" cy="896112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456285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3E8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7" y="4553712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Context Variable Handling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7" y="4928616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C7A"/>
                </a:solidFill>
                <a:latin typeface="Calibri"/>
              </a:rPr>
              <a:t>Automatic AWS  GCP variable renaming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489704"/>
            <a:ext cx="5394960" cy="896112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456285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Calibr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22007" y="4553712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Features &amp; Highlights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7" y="4928616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C7A"/>
                </a:solidFill>
                <a:latin typeface="Calibri"/>
              </a:rPr>
              <a:t>Backup, rewiring, safety mechanisms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513832"/>
            <a:ext cx="5394960" cy="896112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558698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3E8"/>
                </a:solidFill>
                <a:latin typeface="Calibr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7" y="5577840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Benefits &amp; Impact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7" y="5952744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C7A"/>
                </a:solidFill>
                <a:latin typeface="Calibri"/>
              </a:rPr>
              <a:t>Time saved, risk reduced, accuracy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513832"/>
            <a:ext cx="5394960" cy="896112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558698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22007" y="5577840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Usage Guide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22007" y="5952744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C7A"/>
                </a:solidFill>
                <a:latin typeface="Calibri"/>
              </a:rPr>
              <a:t>How to run the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73E8"/>
                </a:solidFill>
                <a:latin typeface="Calibri"/>
              </a:rPr>
              <a:t>The challenge of AWS to GCP ETL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394960" cy="5120640"/>
          </a:xfrm>
          <a:prstGeom prst="rect">
            <a:avLst/>
          </a:prstGeom>
          <a:solidFill>
            <a:srgbClr val="13273E"/>
          </a:solidFill>
          <a:ln w="101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4335"/>
                </a:solidFill>
                <a:latin typeface="Calibri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93392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E8ECF0"/>
                </a:solidFill>
                <a:latin typeface="Calibri"/>
              </a:rPr>
              <a:t>  Hundreds of Talend jobs referencing AWS services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E8ECF0"/>
                </a:solidFill>
                <a:latin typeface="Calibri"/>
              </a:rPr>
              <a:t>  Redshift-specific SQL syntax (GETDATE, NVL, dateadd, COPY/UNLOAD...)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E8ECF0"/>
                </a:solidFill>
                <a:latin typeface="Calibri"/>
              </a:rPr>
              <a:t>  S3 paths hardcoded inside XML component parameters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E8ECF0"/>
                </a:solidFill>
                <a:latin typeface="Calibri"/>
              </a:rPr>
              <a:t>  Context variables tightly coupled to AWS credentials &amp; endpoints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E8ECF0"/>
                </a:solidFill>
                <a:latin typeface="Calibri"/>
              </a:rPr>
              <a:t>  Manual migration = weeks of error-prone effort per job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E8ECF0"/>
                </a:solidFill>
                <a:latin typeface="Calibri"/>
              </a:rPr>
              <a:t>  Inconsistent naming: tRedshiftRow, tDBRow, tSnowflakeRow all used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E8ECF0"/>
                </a:solidFill>
                <a:latin typeface="Calibri"/>
              </a:rPr>
              <a:t>  Connections must be removed, rewired correctly (BigQuery is stateless)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E8ECF0"/>
                </a:solidFill>
                <a:latin typeface="Calibri"/>
              </a:rPr>
              <a:t>  Risk of breaking working jobs during migration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5623560" cy="5120640"/>
          </a:xfrm>
          <a:prstGeom prst="rect">
            <a:avLst/>
          </a:prstGeom>
          <a:solidFill>
            <a:srgbClr val="13273E"/>
          </a:solidFill>
          <a:ln w="1016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C04"/>
                </a:solidFill>
                <a:latin typeface="Calibri"/>
              </a:rPr>
              <a:t>Current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011680"/>
            <a:ext cx="5230368" cy="621792"/>
          </a:xfrm>
          <a:prstGeom prst="rect">
            <a:avLst/>
          </a:prstGeom>
          <a:solidFill>
            <a:srgbClr val="0D1B2A"/>
          </a:solidFill>
          <a:ln w="5080">
            <a:solidFill>
              <a:srgbClr val="60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057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C04"/>
                </a:solidFill>
                <a:latin typeface="Calibri"/>
              </a:rPr>
              <a:t>AWS Talend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322576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CF0"/>
                </a:solidFill>
                <a:latin typeface="Calibri"/>
              </a:rPr>
              <a:t>tRedshiftRow, tS3Put, tS3Get...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2761488"/>
            <a:ext cx="5230368" cy="621792"/>
          </a:xfrm>
          <a:prstGeom prst="rect">
            <a:avLst/>
          </a:prstGeom>
          <a:solidFill>
            <a:srgbClr val="0D1B2A"/>
          </a:solidFill>
          <a:ln w="5080">
            <a:solidFill>
              <a:srgbClr val="60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8072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C04"/>
                </a:solidFill>
                <a:latin typeface="Calibri"/>
              </a:rPr>
              <a:t>Redshift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07238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CF0"/>
                </a:solidFill>
                <a:latin typeface="Calibri"/>
              </a:rPr>
              <a:t>NVL(), GETDATE(), dateadd(), COPY...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511296"/>
            <a:ext cx="5230368" cy="621792"/>
          </a:xfrm>
          <a:prstGeom prst="rect">
            <a:avLst/>
          </a:prstGeom>
          <a:solidFill>
            <a:srgbClr val="0D1B2A"/>
          </a:solidFill>
          <a:ln w="5080">
            <a:solidFill>
              <a:srgbClr val="60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355701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C04"/>
                </a:solidFill>
                <a:latin typeface="Calibri"/>
              </a:rPr>
              <a:t>S3 URIs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822191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CF0"/>
                </a:solidFill>
                <a:latin typeface="Calibri"/>
              </a:rPr>
              <a:t>s3://bucket/path/file.csv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4261104"/>
            <a:ext cx="5230368" cy="621792"/>
          </a:xfrm>
          <a:prstGeom prst="rect">
            <a:avLst/>
          </a:prstGeom>
          <a:solidFill>
            <a:srgbClr val="0D1B2A"/>
          </a:solidFill>
          <a:ln w="5080">
            <a:solidFill>
              <a:srgbClr val="60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43068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C04"/>
                </a:solidFill>
                <a:latin typeface="Calibri"/>
              </a:rPr>
              <a:t>Context Variables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572000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CF0"/>
                </a:solidFill>
                <a:latin typeface="Calibri"/>
              </a:rPr>
              <a:t>context.Redshift_xxx, context.S3_xxx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5010912"/>
            <a:ext cx="5230368" cy="621792"/>
          </a:xfrm>
          <a:prstGeom prst="rect">
            <a:avLst/>
          </a:prstGeom>
          <a:solidFill>
            <a:srgbClr val="0D1B2A"/>
          </a:solidFill>
          <a:ln w="5080">
            <a:solidFill>
              <a:srgbClr val="60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50566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C04"/>
                </a:solidFill>
                <a:latin typeface="Calibri"/>
              </a:rPr>
              <a:t>Connections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532180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CF0"/>
                </a:solidFill>
                <a:latin typeface="Calibri"/>
              </a:rPr>
              <a:t>tRedshiftConnection + tRedshiftClose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5760720"/>
            <a:ext cx="5230368" cy="621792"/>
          </a:xfrm>
          <a:prstGeom prst="rect">
            <a:avLst/>
          </a:prstGeom>
          <a:solidFill>
            <a:srgbClr val="0D1B2A"/>
          </a:solidFill>
          <a:ln w="5080">
            <a:solidFill>
              <a:srgbClr val="60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58064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C04"/>
                </a:solidFill>
                <a:latin typeface="Calibri"/>
              </a:rPr>
              <a:t>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6071616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CF0"/>
                </a:solidFill>
                <a:latin typeface="Calibri"/>
              </a:rPr>
              <a:t>AWS_Access_Key_Id, AWS_Secret_Access_Key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73E8"/>
                </a:solidFill>
                <a:latin typeface="Calibri"/>
              </a:rPr>
              <a:t>Automated AWS-to-GCP Repointing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1572768" cy="1188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44144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INPUT
Talend Jobs
(.item XML)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2807208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3E8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5376" y="2734056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3E8"/>
                </a:solidFill>
                <a:latin typeface="Calibri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48255" y="2331720"/>
            <a:ext cx="1572768" cy="118872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12263" y="244144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BACKUP
Jobs_backup
(Robocopy Mirror)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807208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3E8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734056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3E8"/>
                </a:solidFill>
                <a:latin typeface="Calibri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22191" y="2331720"/>
            <a:ext cx="1572768" cy="1188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244144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EXTRACT
SQL Queries
from XML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7" y="2807208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3E8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7" y="2734056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3E8"/>
                </a:solidFill>
                <a:latin typeface="Calibri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96128" y="2331720"/>
            <a:ext cx="1572768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0136" y="244144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GCP BATCH API
Redshift  BigQuery
SQL Translation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3" y="2807208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3E8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2734056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3E8"/>
                </a:solidFill>
                <a:latin typeface="Calibri"/>
              </a:rP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70064" y="2331720"/>
            <a:ext cx="1572768" cy="1188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4072" y="244144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TRANSFORM
XML Component
Rename &amp; Rewire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807208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3E8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734056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3E8"/>
                </a:solidFill>
                <a:latin typeface="Calibri"/>
              </a:rP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331720"/>
            <a:ext cx="1572768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08008" y="2441448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OUTPUT
GCP-Ready
Talend Jobs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03320"/>
            <a:ext cx="1572768" cy="749808"/>
          </a:xfrm>
          <a:prstGeom prst="rect">
            <a:avLst/>
          </a:prstGeom>
          <a:solidFill>
            <a:srgbClr val="13273E"/>
          </a:solidFill>
          <a:ln w="63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749039"/>
            <a:ext cx="14264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8ECF0"/>
                </a:solidFill>
                <a:latin typeface="Calibri"/>
              </a:rPr>
              <a:t>Python Script
talend_repoint.py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703320"/>
            <a:ext cx="1572768" cy="749808"/>
          </a:xfrm>
          <a:prstGeom prst="rect">
            <a:avLst/>
          </a:prstGeom>
          <a:solidFill>
            <a:srgbClr val="13273E"/>
          </a:solidFill>
          <a:ln w="63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59152" y="3749039"/>
            <a:ext cx="14264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8ECF0"/>
                </a:solidFill>
                <a:latin typeface="Calibri"/>
              </a:rPr>
              <a:t>Robocopy
/MIR strategy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703320"/>
            <a:ext cx="1572768" cy="749808"/>
          </a:xfrm>
          <a:prstGeom prst="rect">
            <a:avLst/>
          </a:prstGeom>
          <a:solidFill>
            <a:srgbClr val="13273E"/>
          </a:solidFill>
          <a:ln w="63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3749039"/>
            <a:ext cx="14264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8ECF0"/>
                </a:solidFill>
                <a:latin typeface="Calibri"/>
              </a:rPr>
              <a:t>XML Regex
Parser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703320"/>
            <a:ext cx="1572768" cy="749808"/>
          </a:xfrm>
          <a:prstGeom prst="rect">
            <a:avLst/>
          </a:prstGeom>
          <a:solidFill>
            <a:srgbClr val="13273E"/>
          </a:solidFill>
          <a:ln w="63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3749039"/>
            <a:ext cx="14264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8ECF0"/>
                </a:solidFill>
                <a:latin typeface="Calibri"/>
              </a:rPr>
              <a:t>bigquery_migration_v2
google-cloud-storage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3703320"/>
            <a:ext cx="1572768" cy="749808"/>
          </a:xfrm>
          <a:prstGeom prst="rect">
            <a:avLst/>
          </a:prstGeom>
          <a:solidFill>
            <a:srgbClr val="13273E"/>
          </a:solidFill>
          <a:ln w="63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3749039"/>
            <a:ext cx="14264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8ECF0"/>
                </a:solidFill>
                <a:latin typeface="Calibri"/>
              </a:rPr>
              <a:t>8 transformation
steps per file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32720" y="3703320"/>
            <a:ext cx="1572768" cy="749808"/>
          </a:xfrm>
          <a:prstGeom prst="rect">
            <a:avLst/>
          </a:prstGeom>
          <a:solidFill>
            <a:srgbClr val="13273E"/>
          </a:solidFill>
          <a:ln w="63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05872" y="3749039"/>
            <a:ext cx="14264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8ECF0"/>
                </a:solidFill>
                <a:latin typeface="Calibri"/>
              </a:rPr>
              <a:t>Dry-Run mode
safe preview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46634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BC04"/>
                </a:solidFill>
                <a:latin typeface="Calibri"/>
              </a:rPr>
              <a:t>  The utility processes ALL child jobs in batch before applying file-level transformations, leveraging GCP's high-accuracy Batch SQL Translation API for optimal conversion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Tool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73E8"/>
                </a:solidFill>
                <a:latin typeface="Calibri"/>
              </a:rPr>
              <a:t>3-file modular design for maintainability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474720" cy="5943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talend_repoint.py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3474720" cy="384048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2996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3E8"/>
                </a:solidFill>
                <a:latin typeface="Calibri"/>
              </a:rPr>
              <a:t>Main Orchestrator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95728"/>
            <a:ext cx="3474720" cy="4160520"/>
          </a:xfrm>
          <a:prstGeom prst="rect">
            <a:avLst/>
          </a:prstGeom>
          <a:solidFill>
            <a:srgbClr val="13273E"/>
          </a:solidFill>
          <a:ln w="762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487168"/>
            <a:ext cx="3218687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CLI entry-point (argparse)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Backup creation &amp; restore via Robocopy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Folder traversal &amp; child job detection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GCP Batch Translation workflow coordinator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XML parsing: component rename, connection rewiring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Context variable replacement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GCS/BigQuery component parameter updates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Final summary report &amp; logging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417320"/>
            <a:ext cx="3474720" cy="5943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4447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sql_converter.py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011680"/>
            <a:ext cx="3474720" cy="384048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02996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A853"/>
                </a:solidFill>
                <a:latin typeface="Calibri"/>
              </a:rPr>
              <a:t>SQL Conversion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2395728"/>
            <a:ext cx="3474720" cy="4160520"/>
          </a:xfrm>
          <a:prstGeom prst="rect">
            <a:avLst/>
          </a:prstGeom>
          <a:solidFill>
            <a:srgbClr val="13273E"/>
          </a:solidFill>
          <a:ln w="762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2487168"/>
            <a:ext cx="3218687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Tokenize Talend Java-SQL (context variables -&gt; placeholders)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preprocess_placeholders_for_api() - context-aware dummy injection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restore_placeholders_after_api() - reverse dummy substitution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_detokenize_talend_sql() - restore original Talend syntax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_inject_gcp_project_in_schemas() - auto project name injection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Local regex fallback rules: dateadd, NVL, GETDATE, COPY...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lowercase_table_names_in_sql() - BQ case sensitivity fix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1417320"/>
            <a:ext cx="3474720" cy="59436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4447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config.py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0" y="2011680"/>
            <a:ext cx="3474720" cy="384048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029968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C04"/>
                </a:solidFill>
                <a:latin typeface="Calibri"/>
              </a:rPr>
              <a:t>Configuration Hub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2395728"/>
            <a:ext cx="3474720" cy="4160520"/>
          </a:xfrm>
          <a:prstGeom prst="rect">
            <a:avLst/>
          </a:prstGeom>
          <a:solidFill>
            <a:srgbClr val="13273E"/>
          </a:solidFill>
          <a:ln w="762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2487168"/>
            <a:ext cx="3218687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COMPONENT_REPLACEMENTS: AWS -&gt; GCP component map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UNIQUE_NAME_PREFIX_REPLACEMENTS: XML ID renaming map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CONTEXT_VARIABLE_REPLACEMENTS: AWS variable -&gt; GCP variable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LABEL_REPLACEMENTS: display label text updates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GCS bucket &amp; prefix settings for Batch API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GCP project IDs &amp; location for translation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E8ECF0"/>
                </a:solidFill>
                <a:latin typeface="Calibri"/>
              </a:rPr>
              <a:t>  USE_BQ_BATCH_API flag (enable/disable API mode)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End-to-End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73E8"/>
                </a:solidFill>
                <a:latin typeface="Calibri"/>
              </a:rPr>
              <a:t>Step-by-step walkthrough of a full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657600" cy="1389888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402336" cy="138988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1" y="1819656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904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  <a:latin typeface="Calibri"/>
              </a:rPr>
              <a:t>CLI &amp;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819656"/>
            <a:ext cx="3108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  <a:latin typeface="Calibri"/>
              </a:rPr>
              <a:t>python talend_repoint.py &lt;Jobs_folder&gt;
Validate path, Windows MAX_PATH fix, 3-sec abort window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3087" y="1417320"/>
            <a:ext cx="3657600" cy="1389888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33087" y="1417320"/>
            <a:ext cx="402336" cy="138988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819656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5" y="14904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  <a:latin typeface="Calibri"/>
              </a:rPr>
              <a:t>Backup / Restore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5" y="1819656"/>
            <a:ext cx="3108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  <a:latin typeface="Calibri"/>
              </a:rPr>
              <a:t>Jobs folder renamed to Jobs_backup (first run)
Robocopy /MIR restores original state on re-runs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1856" y="1417320"/>
            <a:ext cx="3657600" cy="1389888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1417320"/>
            <a:ext cx="402336" cy="138988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1819656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149047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  <a:latin typeface="Calibri"/>
              </a:rPr>
              <a:t>Scan &amp;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1819656"/>
            <a:ext cx="3108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  <a:latin typeface="Calibri"/>
              </a:rPr>
              <a:t>Walk all subfolders, identify .item files
Skip GrandMaster / Master / ABAC jobs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16936"/>
            <a:ext cx="3657600" cy="1389888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916936"/>
            <a:ext cx="402336" cy="138988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1" y="331927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99008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  <a:latin typeface="Calibri"/>
              </a:rPr>
              <a:t>SQL 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319272"/>
            <a:ext cx="3108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  <a:latin typeface="Calibri"/>
              </a:rPr>
              <a:t>Parse XML for QUERY attributes in DB components
html.unescape() -&gt; preprocess for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33087" y="2916936"/>
            <a:ext cx="3657600" cy="1389888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33087" y="2916936"/>
            <a:ext cx="402336" cy="138988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331927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5" y="299008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  <a:latin typeface="Calibri"/>
              </a:rPr>
              <a:t>Tokenize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5" y="3319272"/>
            <a:ext cx="3108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  <a:latin typeface="Calibri"/>
              </a:rPr>
              <a:t>Replace context.var + Java concat -&gt; talendvarN
preprocess_placeholders_for_api() makes SQL valid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1856" y="2916936"/>
            <a:ext cx="3657600" cy="1389888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1856" y="2916936"/>
            <a:ext cx="402336" cy="138988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9288" y="331927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299008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  <a:latin typeface="Calibri"/>
              </a:rPr>
              <a:t>GCP Batch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3319272"/>
            <a:ext cx="3108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  <a:latin typeface="Calibri"/>
              </a:rPr>
              <a:t>Upload .sql files to GCS bucket
Trigger bigquery_migration_v2 Translation_Redshift2BQ
Poll every 5 sec until COMPLETED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416552"/>
            <a:ext cx="3657600" cy="1389888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416552"/>
            <a:ext cx="402336" cy="138988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1" y="4818888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48970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  <a:latin typeface="Calibri"/>
              </a:rPr>
              <a:t>Download &amp; Restore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4818888"/>
            <a:ext cx="3108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  <a:latin typeface="Calibri"/>
              </a:rPr>
              <a:t>Download translated .sql files from GCS
restore_placeholders_after_api() -&gt; detokenize
Match back to component UNIQUE_NAME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33087" y="4416552"/>
            <a:ext cx="3657600" cy="1389888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33087" y="4416552"/>
            <a:ext cx="402336" cy="138988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60520" y="4818888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8575" y="448970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  <a:latin typeface="Calibri"/>
              </a:rPr>
              <a:t>XML Transform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8575" y="4818888"/>
            <a:ext cx="3108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  <a:latin typeface="Calibri"/>
              </a:rPr>
              <a:t>Rename components, rewire connections
Update GCS/BQ component params
Inject project names, lowercase table names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91856" y="4416552"/>
            <a:ext cx="3657600" cy="1389888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91856" y="4416552"/>
            <a:ext cx="402336" cy="138988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19288" y="4818888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67344" y="448970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  <a:latin typeface="Calibri"/>
              </a:rPr>
              <a:t>Save &amp; Report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67344" y="4818888"/>
            <a:ext cx="31089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  <a:latin typeface="Calibri"/>
              </a:rPr>
              <a:t>Write modified .item file
Log manual-review flags (DISTKEY, SORTKEY...)
Print final summary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SQL Translation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73E8"/>
                </a:solidFill>
                <a:latin typeface="Calibri"/>
              </a:rPr>
              <a:t>GCP Batch API as primary + Local Regex as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40680" cy="5166360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8132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A853"/>
                </a:solidFill>
                <a:latin typeface="Calibri"/>
              </a:rPr>
              <a:t>PRIMARY: GCP Batch Translation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38528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1. Extract raw XML query value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2. html.unescape() decode &amp;quot; etc.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3. preprocess_redshift_sql() – fix backslashes, DELETE syntax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4. _tokenize_talend_sql() – replace " + context.xyz + " with talendvarN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5. preprocess_placeholders_for_api() – context-aware dummy substitution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6. Write as .sql file: JobName__ComponentName.sql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7. Upload to gs://dmgcp-del-155-raw/talend-repointing/input/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8. Trigger bigquery_migration_v2 Redshift-&gt;BigQuery batch job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9. Poll status every 5 seconds until COMPLETED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10. Download from output/ prefix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11. restore_placeholders_after_api() – remove dummies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12. _detokenize_talend_sql() – restore context.xyz variables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13. _inject_gcp_project_in_schemas() – add project prefix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14. lowercase_table_names_in_sql() – BQ case sensitivity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15. escape_xml_attr() – re-encode for XML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417320"/>
            <a:ext cx="5742432" cy="5166360"/>
          </a:xfrm>
          <a:prstGeom prst="rect">
            <a:avLst/>
          </a:prstGeom>
          <a:solidFill>
            <a:srgbClr val="13273E"/>
          </a:solidFill>
          <a:ln w="1016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4813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C04"/>
                </a:solidFill>
                <a:latin typeface="Calibri"/>
              </a:rPr>
              <a:t>FALLBACK: Local Regex Conversion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938528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GETDATE() / SYSDATE  -&gt;  CURRENT_TIMESTAMP()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CURRENT_DATE (no parens)  -&gt;  CURRENT_DATE()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trunc(expr)  -&gt;  DATE(expr)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dateadd(day, -N, expr)  -&gt;  DATE_SUB(expr, INTERVAL N DAY)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dateadd(day, N, expr)  -&gt;  DATE_ADD(expr, INTERVAL N DAY)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datediff(unit, s, e)  -&gt;  DATE_DIFF(e, s, unit)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NVL(a, b)  -&gt;  IFNULL(a, b)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ISNULL(a, b)  -&gt;  IFNULL(a, b)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CONVERT(type, expr)  -&gt;  CAST(expr AS type)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LEN(x)  -&gt;  LENGTH(x)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CHARINDEX(s, str)  -&gt;  STRPOS(str, s)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A || B  -&gt;  CONCAT(A, B)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expr::type  -&gt;  CAST(expr AS type)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COPY table FROM 's3://...'  -&gt;  LOAD DATA INTO table FROM FILES(...)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UNLOAD (query) TO 's3://'  -&gt;  EXPORT DATA OPTIONS(uri='gs://...')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DELETE tbl FROM src WHERE  -&gt;  MERGE tbl USING src ON... WHEN MATCHED THEN DELETE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CREATE TEMP TABLE (LIKE)  -&gt;  CREATE TEMP TABLE AS SELECT * WHERE 1=0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Component Mappings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73E8"/>
                </a:solidFill>
                <a:latin typeface="Calibri"/>
              </a:rPr>
              <a:t>S3 → Google Cloud Storage  |  Redshift → BigQuery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596128" cy="42062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72184"/>
            <a:ext cx="5431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S3  Google Cloud 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37944"/>
            <a:ext cx="5596128" cy="329184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865376"/>
            <a:ext cx="2462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3E8"/>
                </a:solidFill>
                <a:latin typeface="Calibri"/>
              </a:rPr>
              <a:t>AWS / Source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9768" y="1865376"/>
            <a:ext cx="235037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3E8"/>
                </a:solidFill>
                <a:latin typeface="Calibri"/>
              </a:rPr>
              <a:t>GCP Target 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2710" y="1865376"/>
            <a:ext cx="73773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73E8"/>
                </a:solidFill>
                <a:latin typeface="Calibr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67128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221992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tS3Connection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9768" y="2221992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tGSConnection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41854" y="2240280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1854" y="2240280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79192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734056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tS3Configuration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9768" y="2734056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tGSConfiguration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1854" y="2752344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1854" y="2752344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91256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246120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tS3Put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9768" y="3246120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tGSPut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41854" y="3264408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41854" y="3264408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03320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758184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tS3Get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9768" y="3758184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tGSGet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41854" y="3776472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41854" y="3776472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215384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4270248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tS3Copy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09768" y="4270248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tGSCopy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41854" y="4288536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41854" y="4288536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727448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4782312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tS3List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9768" y="4782312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tGSList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41854" y="4800600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41854" y="4800600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239512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5294376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tS3Delete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09768" y="5294376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tGSDelete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41854" y="5312664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1854" y="5312664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751576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5806440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tS3Close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9768" y="5806440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tGSClose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41854" y="5824728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41854" y="5824728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91072" y="1417320"/>
            <a:ext cx="5596128" cy="42062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82512" y="1472184"/>
            <a:ext cx="5431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Redshift  BigQuery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91072" y="1837944"/>
            <a:ext cx="5596128" cy="329184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64224" y="1865376"/>
            <a:ext cx="2462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4A853"/>
                </a:solidFill>
                <a:latin typeface="Calibri"/>
              </a:rPr>
              <a:t>AWS / Source Component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6520" y="1865376"/>
            <a:ext cx="235037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4A853"/>
                </a:solidFill>
                <a:latin typeface="Calibri"/>
              </a:rPr>
              <a:t>GCP Target Component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49462" y="1865376"/>
            <a:ext cx="73773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A853"/>
                </a:solidFill>
                <a:latin typeface="Calibri"/>
              </a:rPr>
              <a:t>Action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91072" y="2167128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4224" y="2221992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tRedshiftConnection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6520" y="2221992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C7A"/>
                </a:solidFill>
                <a:latin typeface="Courier New"/>
              </a:rPr>
              <a:t>(removed)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8606" y="2240280"/>
            <a:ext cx="692017" cy="32918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158606" y="2240280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91072" y="2679192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64224" y="2734056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tRedshiftInput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6520" y="2734056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tBigQueryInput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158606" y="2752344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58606" y="2752344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91072" y="3191256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64224" y="3246120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tRedshiftOutput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26520" y="3246120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tBigQueryOutput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158606" y="3264408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158606" y="3264408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91072" y="3703320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64224" y="3758184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tRedshiftRow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26520" y="3758184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tBigQuerySQLRow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158606" y="3776472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158606" y="3776472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91072" y="4215384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64224" y="4270248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tRedshiftUnload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26520" y="4270248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tBigQueryInput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158606" y="4288536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158606" y="4288536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91072" y="4727448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64224" y="4782312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tRedshiftClose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26520" y="4782312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C7A"/>
                </a:solidFill>
                <a:latin typeface="Courier New"/>
              </a:rPr>
              <a:t>(removed)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158606" y="4800600"/>
            <a:ext cx="692017" cy="32918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158606" y="4800600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91072" y="5239512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64224" y="5294376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tDBConnection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26520" y="5294376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C7A"/>
                </a:solidFill>
                <a:latin typeface="Courier New"/>
              </a:rPr>
              <a:t>(removed)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158606" y="5312664"/>
            <a:ext cx="692017" cy="32918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158606" y="5312664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91072" y="5751576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64224" y="5806440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tDBClose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26520" y="5806440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C7A"/>
                </a:solidFill>
                <a:latin typeface="Courier New"/>
              </a:rPr>
              <a:t>(removed)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158606" y="5824728"/>
            <a:ext cx="692017" cy="32918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158606" y="5824728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" y="6528816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C7A"/>
                </a:solidFill>
                <a:latin typeface="Calibri"/>
              </a:rPr>
              <a:t>MAP = Component replaced with GCP equivalent   |   DEL = Component removed &amp; connections auto-rewired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Component Mappings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73E8"/>
                </a:solidFill>
                <a:latin typeface="Calibri"/>
              </a:rPr>
              <a:t>Snowflake | MS SQL | Oracle | Generic DB  →  BigQuery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596128" cy="42062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72184"/>
            <a:ext cx="5431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Snowflake  BigQuery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37944"/>
            <a:ext cx="5596128" cy="329184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865376"/>
            <a:ext cx="2462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C04"/>
                </a:solidFill>
                <a:latin typeface="Calibri"/>
              </a:rPr>
              <a:t>AWS / Source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9768" y="1865376"/>
            <a:ext cx="235037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C04"/>
                </a:solidFill>
                <a:latin typeface="Calibri"/>
              </a:rPr>
              <a:t>GCP Target 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2710" y="1865376"/>
            <a:ext cx="73773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BBC04"/>
                </a:solidFill>
                <a:latin typeface="Calibri"/>
              </a:rP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67128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221992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tSnowflakeConnection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9768" y="2221992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C7A"/>
                </a:solidFill>
                <a:latin typeface="Courier New"/>
              </a:rPr>
              <a:t>(removed)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41854" y="2240280"/>
            <a:ext cx="692017" cy="32918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1854" y="2240280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79192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734056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tSnowflakeInput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9768" y="2734056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1854" y="2752344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41854" y="2752344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91256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246120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tSnowflakeOutput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9768" y="3246120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41854" y="3264408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41854" y="3264408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03320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758184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tSnowflakeRow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9768" y="3758184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tBigQuerySQLRow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41854" y="3776472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41854" y="3776472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215384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4270248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tSnowflakeClose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09768" y="4270248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C7A"/>
                </a:solidFill>
                <a:latin typeface="Courier New"/>
              </a:rPr>
              <a:t>(removed)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41854" y="4288536"/>
            <a:ext cx="692017" cy="32918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41854" y="4288536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2" y="1417320"/>
            <a:ext cx="5596128" cy="42062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1472184"/>
            <a:ext cx="5431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MS SQL  BigQuery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1837944"/>
            <a:ext cx="5596128" cy="329184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64224" y="1865376"/>
            <a:ext cx="2462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3E8"/>
                </a:solidFill>
                <a:latin typeface="Calibri"/>
              </a:rPr>
              <a:t>AWS / Source Component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6520" y="1865376"/>
            <a:ext cx="235037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73E8"/>
                </a:solidFill>
                <a:latin typeface="Calibri"/>
              </a:rPr>
              <a:t>GCP Target Component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49462" y="1865376"/>
            <a:ext cx="73773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73E8"/>
                </a:solidFill>
                <a:latin typeface="Calibri"/>
              </a:rPr>
              <a:t>Action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91072" y="2167128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64224" y="2221992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tMSSqlConnection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6520" y="2221992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C7A"/>
                </a:solidFill>
                <a:latin typeface="Courier New"/>
              </a:rPr>
              <a:t>(removed)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158606" y="2240280"/>
            <a:ext cx="692017" cy="32918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8606" y="2240280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91072" y="2679192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4224" y="2734056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tMSSqlInput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6520" y="2734056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tBigQueryInput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158606" y="2752344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58606" y="2752344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91072" y="3191256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64224" y="3246120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tMSSqlOutput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6520" y="3246120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tBigQueryOutput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158606" y="3264408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158606" y="3264408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91072" y="3703320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64224" y="3758184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tMSSqlRow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6520" y="3758184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tBigQuerySQLRow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8606" y="3776472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158606" y="3776472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91072" y="4215384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64224" y="4270248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tMSSqlOutputBulk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26520" y="4270248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tBigQueryOutputBulk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158606" y="4288536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58606" y="4288536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91072" y="4727448"/>
            <a:ext cx="5596128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64224" y="4782312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tMSSqlSCD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26520" y="4782312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tBigQuerySQLRow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158606" y="4800600"/>
            <a:ext cx="692017" cy="32918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158606" y="4800600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91072" y="5239512"/>
            <a:ext cx="5596128" cy="475488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64224" y="5294376"/>
            <a:ext cx="23708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tMSSqlClose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26520" y="5294376"/>
            <a:ext cx="225893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C7A"/>
                </a:solidFill>
                <a:latin typeface="Courier New"/>
              </a:rPr>
              <a:t>(removed)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158606" y="5312664"/>
            <a:ext cx="692017" cy="32918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158606" y="5312664"/>
            <a:ext cx="69201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4572000"/>
            <a:ext cx="5596128" cy="42062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" y="4626864"/>
            <a:ext cx="5431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Oracle  BigQuery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4992624"/>
            <a:ext cx="5596128" cy="329184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7472" y="5020056"/>
            <a:ext cx="2462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4A853"/>
                </a:solidFill>
                <a:latin typeface="Calibri"/>
              </a:rPr>
              <a:t>AWS / Source Component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09768" y="5020056"/>
            <a:ext cx="235037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4A853"/>
                </a:solidFill>
                <a:latin typeface="Calibri"/>
              </a:rPr>
              <a:t>GCP Target Component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32710" y="5020056"/>
            <a:ext cx="73773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4A853"/>
                </a:solidFill>
                <a:latin typeface="Calibri"/>
              </a:rPr>
              <a:t>Action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5321808"/>
            <a:ext cx="5596128" cy="329184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7472" y="5376672"/>
            <a:ext cx="2370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tOracleConnection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809768" y="5376672"/>
            <a:ext cx="225893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C7A"/>
                </a:solidFill>
                <a:latin typeface="Courier New"/>
              </a:rPr>
              <a:t>(removed)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41854" y="5394960"/>
            <a:ext cx="692017" cy="182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41854" y="5394960"/>
            <a:ext cx="6920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5687568"/>
            <a:ext cx="5596128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47472" y="5742432"/>
            <a:ext cx="2370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tOracleInput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09768" y="5742432"/>
            <a:ext cx="225893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tBigQueryInput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141854" y="5760720"/>
            <a:ext cx="692017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41854" y="5760720"/>
            <a:ext cx="6920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6053328"/>
            <a:ext cx="5596128" cy="329184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47472" y="6108192"/>
            <a:ext cx="2370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tOracleOutput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809768" y="6108192"/>
            <a:ext cx="225893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tBigQueryOutput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141854" y="6126480"/>
            <a:ext cx="692017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141854" y="6126480"/>
            <a:ext cx="6920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6419088"/>
            <a:ext cx="5596128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47472" y="6473952"/>
            <a:ext cx="2370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tOracleRow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09768" y="6473952"/>
            <a:ext cx="225893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tBigQuerySQLRow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141854" y="6492240"/>
            <a:ext cx="692017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141854" y="6492240"/>
            <a:ext cx="6920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6784848"/>
            <a:ext cx="5596128" cy="329184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47472" y="6839712"/>
            <a:ext cx="2370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tOracleClose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09768" y="6839712"/>
            <a:ext cx="225893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C7A"/>
                </a:solidFill>
                <a:latin typeface="Courier New"/>
              </a:rPr>
              <a:t>(removed)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41854" y="6858000"/>
            <a:ext cx="692017" cy="182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141854" y="6858000"/>
            <a:ext cx="6920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91072" y="4572000"/>
            <a:ext cx="5596128" cy="42062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82512" y="4626864"/>
            <a:ext cx="5431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Generic DB  BigQuery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291072" y="4992624"/>
            <a:ext cx="5596128" cy="329184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64224" y="5020056"/>
            <a:ext cx="2462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A4335"/>
                </a:solidFill>
                <a:latin typeface="Calibri"/>
              </a:rPr>
              <a:t>AWS / Source Component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26520" y="5020056"/>
            <a:ext cx="235037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A4335"/>
                </a:solidFill>
                <a:latin typeface="Calibri"/>
              </a:rPr>
              <a:t>GCP Target Component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149462" y="5020056"/>
            <a:ext cx="73773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A4335"/>
                </a:solidFill>
                <a:latin typeface="Calibri"/>
              </a:rPr>
              <a:t>Action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91072" y="5321808"/>
            <a:ext cx="5596128" cy="329184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64224" y="5376672"/>
            <a:ext cx="2370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tDBConnection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826520" y="5376672"/>
            <a:ext cx="225893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C7A"/>
                </a:solidFill>
                <a:latin typeface="Courier New"/>
              </a:rPr>
              <a:t>(removed)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158606" y="5394960"/>
            <a:ext cx="692017" cy="182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158606" y="5394960"/>
            <a:ext cx="6920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291072" y="5687568"/>
            <a:ext cx="5596128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364224" y="5742432"/>
            <a:ext cx="2370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tDBClose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826520" y="5742432"/>
            <a:ext cx="225893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C7A"/>
                </a:solidFill>
                <a:latin typeface="Courier New"/>
              </a:rPr>
              <a:t>(removed)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158606" y="5760720"/>
            <a:ext cx="692017" cy="182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158606" y="5760720"/>
            <a:ext cx="6920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291072" y="6053328"/>
            <a:ext cx="5596128" cy="329184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64224" y="6108192"/>
            <a:ext cx="2370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tDBRow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826520" y="6108192"/>
            <a:ext cx="225893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tBigQuerySQLRow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1158606" y="6126480"/>
            <a:ext cx="692017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158606" y="6126480"/>
            <a:ext cx="6920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291072" y="6419088"/>
            <a:ext cx="5596128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364224" y="6473952"/>
            <a:ext cx="2370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urier New"/>
              </a:rPr>
              <a:t>tDBInput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826520" y="6473952"/>
            <a:ext cx="225893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tBigQueryInput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158606" y="6492240"/>
            <a:ext cx="692017" cy="182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158606" y="6492240"/>
            <a:ext cx="6920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74320" y="6528816"/>
            <a:ext cx="1164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C7A"/>
                </a:solidFill>
                <a:latin typeface="Calibri"/>
              </a:rPr>
              <a:t>MAP = Component replaced with GCP equivalent   |   DEL = Component removed &amp; connections auto-rewired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Context Variable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73E8"/>
                </a:solidFill>
                <a:latin typeface="Calibri"/>
              </a:rPr>
              <a:t>Automatic rename &amp; lowercase of all AWS context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257800" cy="5166360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813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3E8"/>
                </a:solidFill>
                <a:latin typeface="Calibri"/>
              </a:rPr>
              <a:t>Renaming Rules (Auto-Applied)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38528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E8ECF0"/>
                </a:solidFill>
                <a:latin typeface="Calibri"/>
              </a:rPr>
              <a:t>  context.S3_*  -&gt;  context.gcs_*</a:t>
            </a:r>
          </a:p>
          <a:p>
            <a:pPr algn="l">
              <a:spcBef>
                <a:spcPts val="100"/>
              </a:spcBef>
            </a:pPr>
            <a:r>
              <a:rPr sz="1000" b="0" i="1">
                <a:solidFill>
                  <a:srgbClr val="606C7A"/>
                </a:solidFill>
                <a:latin typeface="Calibri"/>
              </a:rPr>
              <a:t>     (S3 -&gt; GCS prefix)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E8ECF0"/>
                </a:solidFill>
                <a:latin typeface="Calibri"/>
              </a:rPr>
              <a:t>  context.S3_*bucket*  -&gt;  context.gcs_*_gcp</a:t>
            </a:r>
          </a:p>
          <a:p>
            <a:pPr algn="l">
              <a:spcBef>
                <a:spcPts val="100"/>
              </a:spcBef>
            </a:pPr>
            <a:r>
              <a:rPr sz="1000" b="0" i="1">
                <a:solidFill>
                  <a:srgbClr val="606C7A"/>
                </a:solidFill>
                <a:latin typeface="Calibri"/>
              </a:rPr>
              <a:t>     (S3 buckets get _gcp suffix)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E8ECF0"/>
                </a:solidFill>
                <a:latin typeface="Calibri"/>
              </a:rPr>
              <a:t>  context.Redshift_*  -&gt;  context.bq_*</a:t>
            </a:r>
          </a:p>
          <a:p>
            <a:pPr algn="l">
              <a:spcBef>
                <a:spcPts val="100"/>
              </a:spcBef>
            </a:pPr>
            <a:r>
              <a:rPr sz="1000" b="0" i="1">
                <a:solidFill>
                  <a:srgbClr val="606C7A"/>
                </a:solidFill>
                <a:latin typeface="Calibri"/>
              </a:rPr>
              <a:t>     (Redshift -&gt; bq_ prefix)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E8ECF0"/>
                </a:solidFill>
                <a:latin typeface="Calibri"/>
              </a:rPr>
              <a:t>  context.AWS_*  -&gt;  context.gcp_*</a:t>
            </a:r>
          </a:p>
          <a:p>
            <a:pPr algn="l">
              <a:spcBef>
                <a:spcPts val="100"/>
              </a:spcBef>
            </a:pPr>
            <a:r>
              <a:rPr sz="1000" b="0" i="1">
                <a:solidFill>
                  <a:srgbClr val="606C7A"/>
                </a:solidFill>
                <a:latin typeface="Calibri"/>
              </a:rPr>
              <a:t>     (AWS -&gt; gcp_ prefix)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E8ECF0"/>
                </a:solidFill>
                <a:latin typeface="Calibri"/>
              </a:rPr>
              <a:t>  Specific overrides  -&gt;  See config.py CONTEXT_VARIABLE_REPLACEMENTS</a:t>
            </a:r>
          </a:p>
          <a:p>
            <a:pPr algn="l">
              <a:spcBef>
                <a:spcPts val="100"/>
              </a:spcBef>
            </a:pPr>
            <a:r>
              <a:rPr sz="1000" b="0" i="1">
                <a:solidFill>
                  <a:srgbClr val="606C7A"/>
                </a:solidFill>
                <a:latin typeface="Calibri"/>
              </a:rPr>
              <a:t>     (150+ explicit mappings)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54787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  <a:latin typeface="Calibri"/>
              </a:rPr>
              <a:t>Real Examples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31920"/>
            <a:ext cx="5074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6849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A4335"/>
                </a:solidFill>
                <a:latin typeface="Calibri"/>
              </a:rPr>
              <a:t>context.S3_Bucket_GDAP_rejects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alibri"/>
              </a:rPr>
              <a:t>context.gcs_bucket_gdap_rejects_gcp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26280"/>
            <a:ext cx="5074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56285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A4335"/>
                </a:solidFill>
                <a:latin typeface="Calibri"/>
              </a:rPr>
              <a:t>context.Redshift_CustDB_MKT_Schema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alibri"/>
              </a:rPr>
              <a:t>context.bq_custdb_mkt_schema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5074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5721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A4335"/>
                </a:solidFill>
                <a:latin typeface="Calibri"/>
              </a:rPr>
              <a:t>context.AWS_Param_Store_Region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94959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alibri"/>
              </a:rPr>
              <a:t>context.gcp_region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715000"/>
            <a:ext cx="507492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75157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A4335"/>
                </a:solidFill>
                <a:latin typeface="Calibri"/>
              </a:rPr>
              <a:t>context.Globaldatalake_Bucket_name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alibri"/>
              </a:rPr>
              <a:t>context.globaldatalake_bucket_name_gcp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1417320"/>
            <a:ext cx="5824728" cy="5166360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148132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A853"/>
                </a:solidFill>
                <a:latin typeface="Calibri"/>
              </a:rPr>
              <a:t>Where Variables Are Replaced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1938528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QUERY attributes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Inside all SQL strings in component QUERY fields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CODE fields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In tJava component CODE attributes (Java/SQL hybrid)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Context Parameter names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The name= attribute of contextParameter XML elements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Job-level contexts only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Repository contexts (with repositoryContextId) are NOT renamed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Label text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LABEL field values updated (S3_-&gt; GCS_, RS_-&gt; BQ_)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S3 URIs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s3:// replaced with gs:// in all string values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Endpoint strings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s3.amazonaws.com -&gt; storage.googleapis.com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JDBC type strings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value='REDSHIFT' -&gt; value='BIGQUERY'</a:t>
            </a:r>
          </a:p>
          <a:p>
            <a:pPr algn="l">
              <a:spcBef>
                <a:spcPts val="7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Connection removal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tRedshiftConnection params mapped to GCP project IDs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Features &amp;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73E8"/>
                </a:solidFill>
                <a:latin typeface="Calibri"/>
              </a:rPr>
              <a:t>What makes this utility enterprise-grade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584448" cy="1444752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584448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53896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Batch API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19656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0"/>
                </a:solidFill>
                <a:latin typeface="Calibri"/>
              </a:rPr>
              <a:t>All SQL queries are translated via GCP's official Redshift-&gt;BigQuery Batch Translation API for maximum accuracy. Local regex rules are only applied as fallback when API returns errors.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78224" y="1417320"/>
            <a:ext cx="3584448" cy="1444752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78224" y="1417320"/>
            <a:ext cx="3584448" cy="34747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9663" y="1453896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Intelligent Backup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3" y="1819656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0"/>
                </a:solidFill>
                <a:latin typeface="Calibri"/>
              </a:rPr>
              <a:t>On first run: renames Jobs folder to Jobs_backup, then Robocopy mirrors it back. On subsequent runs: restores from backup before processing, ensuring every run starts from a clean, original state.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2128" y="1417320"/>
            <a:ext cx="3584448" cy="1444752"/>
          </a:xfrm>
          <a:prstGeom prst="rect">
            <a:avLst/>
          </a:prstGeom>
          <a:solidFill>
            <a:srgbClr val="13273E"/>
          </a:solidFill>
          <a:ln w="1016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2128" y="1417320"/>
            <a:ext cx="3584448" cy="34747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1453896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Connection Rewiring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1819656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0"/>
                </a:solidFill>
                <a:latin typeface="Calibri"/>
              </a:rPr>
              <a:t>When AWS connection components (tRedshiftConnection, tRedshiftClose) are removed, the utility automatically rewires all incoming/outgoing XML connections to maintain the correct execution chain.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71800"/>
            <a:ext cx="3584448" cy="1444752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971800"/>
            <a:ext cx="3584448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008376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GCP Project Injection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374136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0"/>
                </a:solidFill>
                <a:latin typeface="Calibri"/>
              </a:rPr>
              <a:t>_inject_gcp_project_in_schemas() auto-prepends context.gcp_src_project or context.gcp_tgt_project before schema references based on SQL keyword context (SELECT/FROM vs INSERT/UPDATE/MERGE).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78224" y="2971800"/>
            <a:ext cx="3584448" cy="1444752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78224" y="2971800"/>
            <a:ext cx="3584448" cy="34747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9663" y="3008376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Child Job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9663" y="3374136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0"/>
                </a:solidFill>
                <a:latin typeface="Calibri"/>
              </a:rPr>
              <a:t>Automatically identifies and skips GrandMaster, Master, and ABAC orchestration jobs. Only processes child data jobs with actual SQL and component references.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2971800"/>
            <a:ext cx="3584448" cy="1444752"/>
          </a:xfrm>
          <a:prstGeom prst="rect">
            <a:avLst/>
          </a:prstGeom>
          <a:solidFill>
            <a:srgbClr val="13273E"/>
          </a:solidFill>
          <a:ln w="1016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82128" y="2971800"/>
            <a:ext cx="3584448" cy="34747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73568" y="3008376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Unique Name Collision Guard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3374136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0"/>
                </a:solidFill>
                <a:latin typeface="Calibri"/>
              </a:rPr>
              <a:t>build_unique_name_map() scans all component UNIQUE_NAMEs before processing. If multiple AWS components map to the same GCP type (e.g. tBigQuerySQLRow), it assigns collision-free suffixes (_1, _2, _3...)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526280"/>
            <a:ext cx="3584448" cy="1444752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526280"/>
            <a:ext cx="3584448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562856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GCS Component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928616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0"/>
                </a:solidFill>
                <a:latin typeface="Calibri"/>
              </a:rPr>
              <a:t>tGSPut/tGSGet/tGSDelete/tGSList parameters are updated to match GCS API: FILE-&gt;LOCALDIR, KEY-&gt;REMOTEDIR, BUCKET+KEY-&gt;KEYS table, AUTH_TYPE-&gt;ADC.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78224" y="4526280"/>
            <a:ext cx="3584448" cy="1444752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78224" y="4526280"/>
            <a:ext cx="3584448" cy="34747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9663" y="4562856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Manual Review Flags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9663" y="4928616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0"/>
                </a:solidFill>
                <a:latin typeface="Calibri"/>
              </a:rPr>
              <a:t>SQL sections are scanned for patterns needing human verification (DISTKEY, SORTKEY, IDENTITY columns, SELECT TOP, STL_/SVV_ system tables). Warnings are surfaced in the final summary report.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4526280"/>
            <a:ext cx="3584448" cy="1444752"/>
          </a:xfrm>
          <a:prstGeom prst="rect">
            <a:avLst/>
          </a:prstGeom>
          <a:solidFill>
            <a:srgbClr val="13273E"/>
          </a:solidFill>
          <a:ln w="1016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82128" y="4526280"/>
            <a:ext cx="3584448" cy="34747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4562856"/>
            <a:ext cx="3419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Windows Long Path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4928616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ECF0"/>
                </a:solidFill>
                <a:latin typeface="Calibri"/>
              </a:rPr>
              <a:t>Automatically prepends \\?\\ to paths on Windows for MAX_PATH (260 char) bypass, preventing failures on deeply nested Talend project structures.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Benefits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73E8"/>
                </a:solidFill>
                <a:latin typeface="Calibri"/>
              </a:rPr>
              <a:t>Why this utility is a game-changer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2606040" cy="1417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24414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2A"/>
                </a:solidFill>
                <a:latin typeface="Calibri"/>
              </a:rPr>
              <a:t>~95%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Time Saved vs.
Manual Migration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8" y="1417320"/>
            <a:ext cx="2606040" cy="14173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481328"/>
            <a:ext cx="24414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2A"/>
                </a:solidFill>
                <a:latin typeface="Calibri"/>
              </a:rPr>
              <a:t>100+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10312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Talend Jobs
Processed in One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3096" y="1417320"/>
            <a:ext cx="2606040" cy="141732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1481328"/>
            <a:ext cx="24414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2A"/>
                </a:solidFill>
                <a:latin typeface="Calibri"/>
              </a:rPr>
              <a:t>API-First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10312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Highest SQL
Translation 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27464" y="1417320"/>
            <a:ext cx="2606040" cy="14173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18904" y="1481328"/>
            <a:ext cx="24414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D1B2A"/>
                </a:solidFill>
                <a:latin typeface="Calibri"/>
              </a:rPr>
              <a:t>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18904" y="210312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  <a:latin typeface="Calibri"/>
              </a:rPr>
              <a:t>Risk of Backup
Data Loss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99232"/>
            <a:ext cx="3675887" cy="1170432"/>
          </a:xfrm>
          <a:prstGeom prst="rect">
            <a:avLst/>
          </a:prstGeom>
          <a:solidFill>
            <a:srgbClr val="13273E"/>
          </a:solidFill>
          <a:ln w="762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072384"/>
            <a:ext cx="3493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  <a:latin typeface="Calibri"/>
              </a:rPr>
              <a:t>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401568"/>
            <a:ext cx="349300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CF0"/>
                </a:solidFill>
                <a:latin typeface="Calibri"/>
              </a:rPr>
              <a:t>Every job is converted using the same rules every time. No human variation or missed components.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8807" y="2999232"/>
            <a:ext cx="3675887" cy="1170432"/>
          </a:xfrm>
          <a:prstGeom prst="rect">
            <a:avLst/>
          </a:prstGeom>
          <a:solidFill>
            <a:srgbClr val="13273E"/>
          </a:solidFill>
          <a:ln w="762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88536" y="3072384"/>
            <a:ext cx="3493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  <a:latin typeface="Calibri"/>
              </a:rPr>
              <a:t>Auditability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8536" y="3401568"/>
            <a:ext cx="349300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CF0"/>
                </a:solidFill>
                <a:latin typeface="Calibri"/>
              </a:rPr>
              <a:t>Full logs with timestamps, component counts, SQL conversion status, and manual review flags.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2999232"/>
            <a:ext cx="3675887" cy="1170432"/>
          </a:xfrm>
          <a:prstGeom prst="rect">
            <a:avLst/>
          </a:prstGeom>
          <a:solidFill>
            <a:srgbClr val="13273E"/>
          </a:solidFill>
          <a:ln w="762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3" y="3072384"/>
            <a:ext cx="3493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  <a:latin typeface="Calibri"/>
              </a:rPr>
              <a:t>Reversibility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3" y="3401568"/>
            <a:ext cx="349300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CF0"/>
                </a:solidFill>
                <a:latin typeface="Calibri"/>
              </a:rPr>
              <a:t>Backup always available. Any run can be rolled back by restoring from Jobs_backup.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279392"/>
            <a:ext cx="3675887" cy="1170432"/>
          </a:xfrm>
          <a:prstGeom prst="rect">
            <a:avLst/>
          </a:prstGeom>
          <a:solidFill>
            <a:srgbClr val="13273E"/>
          </a:solidFill>
          <a:ln w="762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4352544"/>
            <a:ext cx="3493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  <a:latin typeface="Calibri"/>
              </a:rPr>
              <a:t>Extensibility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4681728"/>
            <a:ext cx="349300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CF0"/>
                </a:solidFill>
                <a:latin typeface="Calibri"/>
              </a:rPr>
              <a:t>Adding a new component mapping is just one line in config.py. No code changes needed.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8807" y="4279392"/>
            <a:ext cx="3675887" cy="1170432"/>
          </a:xfrm>
          <a:prstGeom prst="rect">
            <a:avLst/>
          </a:prstGeom>
          <a:solidFill>
            <a:srgbClr val="13273E"/>
          </a:solidFill>
          <a:ln w="762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8536" y="4352544"/>
            <a:ext cx="3493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  <a:latin typeface="Calibri"/>
              </a:rPr>
              <a:t>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8536" y="4681728"/>
            <a:ext cx="349300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CF0"/>
                </a:solidFill>
                <a:latin typeface="Calibri"/>
              </a:rPr>
              <a:t>GCP's own Batch Translation API is used – same engine powering Google's official migration tools.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4279392"/>
            <a:ext cx="3675887" cy="1170432"/>
          </a:xfrm>
          <a:prstGeom prst="rect">
            <a:avLst/>
          </a:prstGeom>
          <a:solidFill>
            <a:srgbClr val="13273E"/>
          </a:solidFill>
          <a:ln w="762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3023" y="4352544"/>
            <a:ext cx="34930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  <a:latin typeface="Calibri"/>
              </a:rPr>
              <a:t>Speed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3" y="4681728"/>
            <a:ext cx="349300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ECF0"/>
                </a:solidFill>
                <a:latin typeface="Calibri"/>
              </a:rPr>
              <a:t>Parallel GCS uploads/downloads with ThreadPoolExecutor. All jobs translated in a single API batch call.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Usage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73E8"/>
                </a:solidFill>
                <a:latin typeface="Calibri"/>
              </a:rPr>
              <a:t>How to run the Talend Repointing Utility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00" cy="2148840"/>
          </a:xfrm>
          <a:prstGeom prst="rect">
            <a:avLst/>
          </a:prstGeom>
          <a:solidFill>
            <a:srgbClr val="13273E"/>
          </a:solidFill>
          <a:ln w="1016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813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C04"/>
                </a:solidFill>
                <a:latin typeface="Calibri"/>
              </a:rPr>
              <a:t>Prerequisites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01952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  Python 3.9+ installed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  pip install google-cloud-bigquery-migration google-cloud-storage python-pptx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  GCP Application Default Credentials configured (gcloud auth application-default login)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  Talend Studio MUST be closed (to avoid file locks)</a:t>
            </a:r>
          </a:p>
          <a:p>
            <a:pPr algn="l">
              <a:spcBef>
                <a:spcPts val="500"/>
              </a:spcBef>
            </a:pPr>
            <a:r>
              <a:rPr sz="1100" b="0" i="0">
                <a:solidFill>
                  <a:srgbClr val="E8ECF0"/>
                </a:solidFill>
                <a:latin typeface="Calibri"/>
              </a:rPr>
              <a:t>  Access to GCS bucket: dmgcp-del-155-raw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57600"/>
            <a:ext cx="5486400" cy="2898648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3721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3E8"/>
                </a:solidFill>
                <a:latin typeface="Calibri"/>
              </a:rPr>
              <a:t>Run Commands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133087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  <a:latin typeface="Calibri"/>
              </a:rPr>
              <a:t>Full Run (all jobs):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07407"/>
            <a:ext cx="5230368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4425696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python talend_repoint.py "C:\path\to\Jobs"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910327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  <a:latin typeface="Calibri"/>
              </a:rPr>
              <a:t>Dry Run (preview only):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84647"/>
            <a:ext cx="5230368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5202936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python talend_repoint.py "C:\path\to\Jobs" --dry-run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568756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  <a:latin typeface="Calibri"/>
              </a:rPr>
              <a:t>Specific Folders: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961888"/>
            <a:ext cx="5230368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5980176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A853"/>
                </a:solidFill>
                <a:latin typeface="Courier New"/>
              </a:rPr>
              <a:t>python talend_repoint.py "C:\path\to\Jobs" --specific-folders CUST360_KIOSK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1417320"/>
            <a:ext cx="5623560" cy="5138928"/>
          </a:xfrm>
          <a:prstGeom prst="rect">
            <a:avLst/>
          </a:prstGeom>
          <a:solidFill>
            <a:srgbClr val="13273E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8132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A853"/>
                </a:solidFill>
                <a:latin typeface="Calibri"/>
              </a:rPr>
              <a:t>After Running – What to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01952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1. Logs folder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logs/repoint_YYYYMMDD_HHMMSS.log
Check for WARNINGS and ERROR lines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2. Manual Review Flags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End of log lists SQL patterns needing
human verification (DISTKEY etc.)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3. Talend Studio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Right-click project -&gt; Repair Project
to refresh after file changes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4. Test run in Talend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Open a converted child job, verify component
types, SQL, context variable names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5. Verify SQL schemas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Check that gcp_src_project and gcp_tgt_project
are correctly prefixed in all SQL</a:t>
            </a:r>
          </a:p>
          <a:p>
            <a:pPr algn="l">
              <a:spcBef>
                <a:spcPts val="800"/>
              </a:spcBef>
            </a:pPr>
            <a:r>
              <a:rPr sz="1200" b="1" i="0">
                <a:solidFill>
                  <a:srgbClr val="34A853"/>
                </a:solidFill>
                <a:latin typeface="Calibri"/>
              </a:rPr>
              <a:t>6. Context values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E8ECF0"/>
                </a:solidFill>
                <a:latin typeface="Calibri"/>
              </a:rPr>
              <a:t>  Update context parameter VALUES in Talend
to point to your GCP project IDs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7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914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1A73E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A853"/>
                </a:solidFill>
                <a:latin typeface="Calibri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E8ECF0"/>
                </a:solidFill>
                <a:latin typeface="Calibri"/>
              </a:rPr>
              <a:t>   Fully automated AWS to GCP Talend ETL job migration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E8ECF0"/>
                </a:solidFill>
                <a:latin typeface="Calibri"/>
              </a:rPr>
              <a:t>   GCP Batch Translation API for highest SQL accuracy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E8ECF0"/>
                </a:solidFill>
                <a:latin typeface="Calibri"/>
              </a:rPr>
              <a:t>   Intelligent backup, restore, and connection rewiring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E8ECF0"/>
                </a:solidFill>
                <a:latin typeface="Calibri"/>
              </a:rPr>
              <a:t>   Handles Redshift, S3, Snowflake, MSSQL, Oracle -&gt; BigQuery/GCS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E8ECF0"/>
                </a:solidFill>
                <a:latin typeface="Calibri"/>
              </a:rPr>
              <a:t>   Production-ready with logging, review flags, and dry-run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2331720"/>
            <a:ext cx="3337560" cy="3429000"/>
          </a:xfrm>
          <a:prstGeom prst="rect">
            <a:avLst/>
          </a:prstGeom>
          <a:solidFill>
            <a:srgbClr val="13273E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4231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  <a:latin typeface="Calibri"/>
              </a:rPr>
              <a:t>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816352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  <a:latin typeface="Courier New"/>
              </a:rPr>
              <a:t>TalendRepointingUtility/
  talend_repoint.py
  sql_converter.py
  config.py
  logs/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  <a:latin typeface="Calibri"/>
              </a:rP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486460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0"/>
                </a:solidFill>
                <a:latin typeface="Calibri"/>
              </a:rPr>
              <a:t>Customer 360
Data Engineering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7299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C7A"/>
                </a:solidFill>
                <a:latin typeface="Calibri"/>
              </a:rPr>
              <a:t>Talend AWS → GCP Repointing Utility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